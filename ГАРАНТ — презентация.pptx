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screen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  <p:slideViewPr>
    <p:cSldViewPr>
      <p:cViewPr varScale="1">
        <p:scale>
          <a:sx xmlns:a="http://schemas.openxmlformats.org/drawingml/2006/main" n="100" d="100"/>
          <a:sy xmlns:a="http://schemas.openxmlformats.org/drawingml/2006/main"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777240" y="1234440"/>
            <a:ext cx="1051560" cy="105156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777240" y="123444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36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Г</a:t>
            </a:r>
          </a:p>
        </p:txBody>
      </p:sp>
      <p:sp>
        <p:nvSpPr>
          <p:cNvPr id="6" name="t6"/>
          <p:cNvSpPr txBox="1"/>
          <p:nvPr/>
        </p:nvSpPr>
        <p:spPr>
          <a:xfrm>
            <a:off x="2011680" y="1234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УЧЕБНЫЙ МАРКЕТПЛЕЙС</a:t>
            </a:r>
          </a:p>
        </p:txBody>
      </p:sp>
      <p:sp>
        <p:nvSpPr>
          <p:cNvPr id="7" name="t7"/>
          <p:cNvSpPr txBox="1"/>
          <p:nvPr/>
        </p:nvSpPr>
        <p:spPr>
          <a:xfrm>
            <a:off x="1965960" y="1600200"/>
            <a:ext cx="914400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6000" b="1" dirty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ГАРАНТ</a:t>
            </a:r>
          </a:p>
        </p:txBody>
      </p:sp>
      <p:sp>
        <p:nvSpPr>
          <p:cNvPr id="8" name="t8"/>
          <p:cNvSpPr txBox="1"/>
          <p:nvPr/>
        </p:nvSpPr>
        <p:spPr>
          <a:xfrm>
            <a:off x="2011680" y="2788920"/>
            <a:ext cx="841248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2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Продажа и обмен товаров, где платформа держит деньги до подтверждения получения.</a:t>
            </a:r>
          </a:p>
        </p:txBody>
      </p:sp>
      <p:sp>
        <p:nvSpPr>
          <p:cNvPr id="9" name="r9"/>
          <p:cNvSpPr/>
          <p:nvPr/>
        </p:nvSpPr>
        <p:spPr>
          <a:xfrm>
            <a:off x="2011680" y="4069080"/>
            <a:ext cx="2103120" cy="54864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t10"/>
          <p:cNvSpPr txBox="1"/>
          <p:nvPr/>
        </p:nvSpPr>
        <p:spPr>
          <a:xfrm>
            <a:off x="777240" y="4617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01   Эскроу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777240" y="49834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D9CBB4"/>
                </a:solidFill>
                <a:latin typeface="Calibri"/>
                <a:ea typeface="Calibri"/>
                <a:cs typeface="Calibri"/>
              </a:rPr>
              <a:t>Оплата заморожена, пока покупатель не подтвердит товар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02   Два рынка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434840" y="49834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D9CBB4"/>
                </a:solidFill>
                <a:latin typeface="Calibri"/>
                <a:ea typeface="Calibri"/>
                <a:cs typeface="Calibri"/>
              </a:rPr>
              <a:t>Продажа, обмен или оба варианта в одном объявлении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092440" y="46177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03   PHP + MySQL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8092440" y="49834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D9CBB4"/>
                </a:solidFill>
                <a:latin typeface="Calibri"/>
                <a:ea typeface="Calibri"/>
                <a:cs typeface="Calibri"/>
              </a:rPr>
              <a:t>Чистый PHP, PDO и журнал проводок гаранта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ЗАДАЧА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Почему сделке нужен гарант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5486400" cy="489204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r8"/>
          <p:cNvSpPr/>
          <p:nvPr/>
        </p:nvSpPr>
        <p:spPr>
          <a:xfrm>
            <a:off x="6263640" y="1417320"/>
            <a:ext cx="5486400" cy="4892040"/>
          </a:xfrm>
          <a:prstGeom prst="roundRect">
            <a:avLst>
              <a:gd name="adj" fmla="val 7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t9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200" b="1" dirty="0">
                <a:solidFill>
                  <a:srgbClr val="9C3D2F"/>
                </a:solidFill>
                <a:latin typeface="Georgia"/>
                <a:ea typeface="Georgia"/>
                <a:cs typeface="Georgia"/>
              </a:rPr>
              <a:t>Без платформы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85800" y="2286000"/>
            <a:ext cx="498348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Покупатель платит незнакомцу и ждёт, что товар приедет.</a:t>
            </a:r>
          </a:p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Продавец отгружает первым и может не увидеть оплату.</a:t>
            </a:r>
          </a:p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Обмен держится только на слове: никто не фиксирует, что обе стороны получили своё.</a:t>
            </a:r>
          </a:p>
          <a:p>
            <a:pPr algn="l"/>
            <a:r>
              <a:rPr lang="ru-RU" sz="16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Спор негде разбирать: деньги уже у одной из сторон.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510528" y="1645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2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С ГАРАНТ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510528" y="2286000"/>
            <a:ext cx="498348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Покупатель платит платформе. Продавец денег ещё не видит.</a:t>
            </a:r>
          </a:p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Единица товара сразу снимается с витрины — её не купят второй раз.</a:t>
            </a:r>
          </a:p>
          <a:p>
            <a:pPr algn="l">
              <a:spcAft>
                <a:spcPts val="1400"/>
              </a:spcAft>
            </a:pPr>
            <a:r>
              <a:rPr lang="ru-RU" sz="16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Перевод продавцу происходит только после подтверждения получения.</a:t>
            </a:r>
          </a:p>
          <a:p>
            <a:pPr algn="l"/>
            <a:r>
              <a:rPr lang="ru-RU" sz="16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Если срок вышел, спор решает администратор гаранта.</a:t>
            </a:r>
          </a:p>
        </p:txBody>
      </p:sp>
      <p:sp>
        <p:nvSpPr>
          <p:cNvPr id="13" name="r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t14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СОСТАВ СИСТЕМЫ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Шесть частей площадки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r8"/>
          <p:cNvSpPr/>
          <p:nvPr/>
        </p:nvSpPr>
        <p:spPr>
          <a:xfrm>
            <a:off x="603504" y="15819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t9"/>
          <p:cNvSpPr txBox="1"/>
          <p:nvPr/>
        </p:nvSpPr>
        <p:spPr>
          <a:xfrm>
            <a:off x="603504" y="15819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097280" y="156362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Вход и профиль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21792" y="209397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Регистрация по email, пароль через password_hash, два рейтинга и раздел безопасности.</a:t>
            </a:r>
          </a:p>
        </p:txBody>
      </p:sp>
      <p:sp>
        <p:nvSpPr>
          <p:cNvPr id="12" name="r12"/>
          <p:cNvSpPr/>
          <p:nvPr/>
        </p:nvSpPr>
        <p:spPr>
          <a:xfrm>
            <a:off x="4279392" y="141732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r13"/>
          <p:cNvSpPr/>
          <p:nvPr/>
        </p:nvSpPr>
        <p:spPr>
          <a:xfrm>
            <a:off x="4443984" y="15819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t14"/>
          <p:cNvSpPr txBox="1"/>
          <p:nvPr/>
        </p:nvSpPr>
        <p:spPr>
          <a:xfrm>
            <a:off x="4443984" y="15819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4937760" y="156362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Каталог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4462272" y="209397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Категории, поиск, цена, тип сделки и рейтинг продавца. Карточка товара открыта гостю.</a:t>
            </a:r>
          </a:p>
        </p:txBody>
      </p:sp>
      <p:sp>
        <p:nvSpPr>
          <p:cNvPr id="17" name="r17"/>
          <p:cNvSpPr/>
          <p:nvPr/>
        </p:nvSpPr>
        <p:spPr>
          <a:xfrm>
            <a:off x="8119872" y="141732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r18"/>
          <p:cNvSpPr/>
          <p:nvPr/>
        </p:nvSpPr>
        <p:spPr>
          <a:xfrm>
            <a:off x="8284464" y="15819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9" name="t19"/>
          <p:cNvSpPr txBox="1"/>
          <p:nvPr/>
        </p:nvSpPr>
        <p:spPr>
          <a:xfrm>
            <a:off x="8284464" y="15819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8778240" y="156362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Сделка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8302752" y="209397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Покупка или обмен через гаранта. Деньги и резерв товара живут в одной транзакции.</a:t>
            </a:r>
          </a:p>
        </p:txBody>
      </p:sp>
      <p:sp>
        <p:nvSpPr>
          <p:cNvPr id="22" name="r22"/>
          <p:cNvSpPr/>
          <p:nvPr/>
        </p:nvSpPr>
        <p:spPr>
          <a:xfrm>
            <a:off x="438912" y="38862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r23"/>
          <p:cNvSpPr/>
          <p:nvPr/>
        </p:nvSpPr>
        <p:spPr>
          <a:xfrm>
            <a:off x="603504" y="405079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t24"/>
          <p:cNvSpPr txBox="1"/>
          <p:nvPr/>
        </p:nvSpPr>
        <p:spPr>
          <a:xfrm>
            <a:off x="603504" y="4050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097280" y="403250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Доставка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621792" y="456285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Службы вроде СДЭК и Яндекса, самовывоз и спецтехника: грузовик, манипулятор, трал.</a:t>
            </a:r>
          </a:p>
        </p:txBody>
      </p:sp>
      <p:sp>
        <p:nvSpPr>
          <p:cNvPr id="27" name="r27"/>
          <p:cNvSpPr/>
          <p:nvPr/>
        </p:nvSpPr>
        <p:spPr>
          <a:xfrm>
            <a:off x="4279392" y="38862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r28"/>
          <p:cNvSpPr/>
          <p:nvPr/>
        </p:nvSpPr>
        <p:spPr>
          <a:xfrm>
            <a:off x="4443984" y="405079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t29"/>
          <p:cNvSpPr txBox="1"/>
          <p:nvPr/>
        </p:nvSpPr>
        <p:spPr>
          <a:xfrm>
            <a:off x="4443984" y="4050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4937760" y="403250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Отзывы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4462272" y="456285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Оценка 1–5 только после завершённой сделки. Отдельно для продавца и для покупателя.</a:t>
            </a:r>
          </a:p>
        </p:txBody>
      </p:sp>
      <p:sp>
        <p:nvSpPr>
          <p:cNvPr id="32" name="r32"/>
          <p:cNvSpPr/>
          <p:nvPr/>
        </p:nvSpPr>
        <p:spPr>
          <a:xfrm>
            <a:off x="8119872" y="38862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3" name="r33"/>
          <p:cNvSpPr/>
          <p:nvPr/>
        </p:nvSpPr>
        <p:spPr>
          <a:xfrm>
            <a:off x="8284464" y="405079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4" name="t34"/>
          <p:cNvSpPr txBox="1"/>
          <p:nvPr/>
        </p:nvSpPr>
        <p:spPr>
          <a:xfrm>
            <a:off x="8284464" y="4050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ru-RU" sz="14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8778240" y="4032504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Кабинет и админ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8302752" y="4562856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Объявления, переписка по сделке, споры, пользователи и категории.</a:t>
            </a:r>
          </a:p>
        </p:txBody>
      </p:sp>
      <p:sp>
        <p:nvSpPr>
          <p:cNvPr id="37" name="r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8" name="t38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39" name="t3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ЭСКРОУ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Четыре шага одной сделки</a:t>
            </a:r>
          </a:p>
        </p:txBody>
      </p:sp>
      <p:sp>
        <p:nvSpPr>
          <p:cNvPr id="7" name="r7"/>
          <p:cNvSpPr/>
          <p:nvPr/>
        </p:nvSpPr>
        <p:spPr>
          <a:xfrm>
            <a:off x="384048" y="1463040"/>
            <a:ext cx="2788920" cy="4434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r8"/>
          <p:cNvSpPr/>
          <p:nvPr/>
        </p:nvSpPr>
        <p:spPr>
          <a:xfrm>
            <a:off x="384048" y="1463040"/>
            <a:ext cx="2788920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t9"/>
          <p:cNvSpPr txBox="1"/>
          <p:nvPr/>
        </p:nvSpPr>
        <p:spPr>
          <a:xfrm>
            <a:off x="548640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2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Фиксация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548640" y="31546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Покупатель оплачивает заказ. В журнале появляется hold. Для обмена денег нет: гарант фиксирует обязательства сторон.</a:t>
            </a:r>
          </a:p>
        </p:txBody>
      </p:sp>
      <p:sp>
        <p:nvSpPr>
          <p:cNvPr id="12" name="r12"/>
          <p:cNvSpPr/>
          <p:nvPr/>
        </p:nvSpPr>
        <p:spPr>
          <a:xfrm>
            <a:off x="3328416" y="1463040"/>
            <a:ext cx="2788920" cy="4434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r13"/>
          <p:cNvSpPr/>
          <p:nvPr/>
        </p:nvSpPr>
        <p:spPr>
          <a:xfrm>
            <a:off x="3328416" y="1463040"/>
            <a:ext cx="2788920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t14"/>
          <p:cNvSpPr txBox="1"/>
          <p:nvPr/>
        </p:nvSpPr>
        <p:spPr>
          <a:xfrm>
            <a:off x="3493008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2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493008" y="2423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Отправка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3493008" y="31546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Продавец передаёт товар выбранным способом и отмечает отправку. С этого момента идут 7 дней на подтверждение.</a:t>
            </a:r>
          </a:p>
        </p:txBody>
      </p:sp>
      <p:sp>
        <p:nvSpPr>
          <p:cNvPr id="17" name="r17"/>
          <p:cNvSpPr/>
          <p:nvPr/>
        </p:nvSpPr>
        <p:spPr>
          <a:xfrm>
            <a:off x="6272784" y="1463040"/>
            <a:ext cx="2788920" cy="4434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r18"/>
          <p:cNvSpPr/>
          <p:nvPr/>
        </p:nvSpPr>
        <p:spPr>
          <a:xfrm>
            <a:off x="6272784" y="1463040"/>
            <a:ext cx="2788920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9" name="t19"/>
          <p:cNvSpPr txBox="1"/>
          <p:nvPr/>
        </p:nvSpPr>
        <p:spPr>
          <a:xfrm>
            <a:off x="6437376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2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437376" y="2423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Подтверждение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437376" y="31546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Покупатель закрывает продажу — пишется release, деньги считаются переведёнными. Обмен ждёт вторую сторону.</a:t>
            </a:r>
          </a:p>
        </p:txBody>
      </p:sp>
      <p:sp>
        <p:nvSpPr>
          <p:cNvPr id="22" name="r22"/>
          <p:cNvSpPr/>
          <p:nvPr/>
        </p:nvSpPr>
        <p:spPr>
          <a:xfrm>
            <a:off x="9217152" y="1463040"/>
            <a:ext cx="2788920" cy="4434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r23"/>
          <p:cNvSpPr/>
          <p:nvPr/>
        </p:nvSpPr>
        <p:spPr>
          <a:xfrm>
            <a:off x="9217152" y="1463040"/>
            <a:ext cx="2788920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t24"/>
          <p:cNvSpPr txBox="1"/>
          <p:nvPr/>
        </p:nvSpPr>
        <p:spPr>
          <a:xfrm>
            <a:off x="9381744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2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9381744" y="2423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Спор или отзыв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9381744" y="31546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Если срок вышел, открывается спор. Отзыв можно оставить только когда сделка уже завершена.</a:t>
            </a:r>
          </a:p>
        </p:txBody>
      </p:sp>
      <p:sp>
        <p:nvSpPr>
          <p:cNvPr id="27" name="r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8" name="t28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ЖУРНАЛ ГАРАНТА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Статусы, которые видит кабинет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r8"/>
          <p:cNvSpPr/>
          <p:nvPr/>
        </p:nvSpPr>
        <p:spPr>
          <a:xfrm>
            <a:off x="438912" y="1417320"/>
            <a:ext cx="91440" cy="1207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t9"/>
          <p:cNvSpPr txBox="1"/>
          <p:nvPr/>
        </p:nvSpPr>
        <p:spPr>
          <a:xfrm>
            <a:off x="694944" y="15270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Оплачено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94944" y="192024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Деньги заморожены. У обмена этот же шаг называется «Зафиксировано гарантом».</a:t>
            </a:r>
          </a:p>
        </p:txBody>
      </p:sp>
      <p:sp>
        <p:nvSpPr>
          <p:cNvPr id="11" name="r11"/>
          <p:cNvSpPr/>
          <p:nvPr/>
        </p:nvSpPr>
        <p:spPr>
          <a:xfrm>
            <a:off x="6291072" y="141732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r12"/>
          <p:cNvSpPr/>
          <p:nvPr/>
        </p:nvSpPr>
        <p:spPr>
          <a:xfrm>
            <a:off x="6291072" y="1417320"/>
            <a:ext cx="91440" cy="1207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t13"/>
          <p:cNvSpPr txBox="1"/>
          <p:nvPr/>
        </p:nvSpPr>
        <p:spPr>
          <a:xfrm>
            <a:off x="6547104" y="15270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Отправлено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47104" y="192024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Продавец отметил отгрузку. Запущен срок подтверждения.</a:t>
            </a:r>
          </a:p>
        </p:txBody>
      </p:sp>
      <p:sp>
        <p:nvSpPr>
          <p:cNvPr id="15" name="r15"/>
          <p:cNvSpPr/>
          <p:nvPr/>
        </p:nvSpPr>
        <p:spPr>
          <a:xfrm>
            <a:off x="438912" y="274320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r16"/>
          <p:cNvSpPr/>
          <p:nvPr/>
        </p:nvSpPr>
        <p:spPr>
          <a:xfrm>
            <a:off x="438912" y="2743200"/>
            <a:ext cx="91440" cy="1207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t17"/>
          <p:cNvSpPr txBox="1"/>
          <p:nvPr/>
        </p:nvSpPr>
        <p:spPr>
          <a:xfrm>
            <a:off x="694944" y="28529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Подтверждено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94944" y="324612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В обмене покупатель уже получил товар, продавец ещё нет.</a:t>
            </a:r>
          </a:p>
        </p:txBody>
      </p:sp>
      <p:sp>
        <p:nvSpPr>
          <p:cNvPr id="19" name="r19"/>
          <p:cNvSpPr/>
          <p:nvPr/>
        </p:nvSpPr>
        <p:spPr>
          <a:xfrm>
            <a:off x="6291072" y="274320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" name="r20"/>
          <p:cNvSpPr/>
          <p:nvPr/>
        </p:nvSpPr>
        <p:spPr>
          <a:xfrm>
            <a:off x="6291072" y="2743200"/>
            <a:ext cx="91440" cy="1207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t21"/>
          <p:cNvSpPr txBox="1"/>
          <p:nvPr/>
        </p:nvSpPr>
        <p:spPr>
          <a:xfrm>
            <a:off x="6547104" y="28529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Завершено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547104" y="324612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Продажа закрыта переводом. Обмен закрыт двумя подтверждениями.</a:t>
            </a:r>
          </a:p>
        </p:txBody>
      </p:sp>
      <p:sp>
        <p:nvSpPr>
          <p:cNvPr id="23" name="r23"/>
          <p:cNvSpPr/>
          <p:nvPr/>
        </p:nvSpPr>
        <p:spPr>
          <a:xfrm>
            <a:off x="438912" y="406908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4" name="r24"/>
          <p:cNvSpPr/>
          <p:nvPr/>
        </p:nvSpPr>
        <p:spPr>
          <a:xfrm>
            <a:off x="438912" y="4069080"/>
            <a:ext cx="91440" cy="1207008"/>
          </a:xfrm>
          <a:prstGeom prst="rect">
            <a:avLst/>
          </a:prstGeom>
          <a:solidFill>
            <a:srgbClr val="9C3D2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5" name="t25"/>
          <p:cNvSpPr txBox="1"/>
          <p:nvPr/>
        </p:nvSpPr>
        <p:spPr>
          <a:xfrm>
            <a:off x="694944" y="41788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Спор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694944" y="45720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Деньги остаются у гаранта, пока администратор не решит.</a:t>
            </a:r>
          </a:p>
        </p:txBody>
      </p:sp>
      <p:sp>
        <p:nvSpPr>
          <p:cNvPr id="27" name="r27"/>
          <p:cNvSpPr/>
          <p:nvPr/>
        </p:nvSpPr>
        <p:spPr>
          <a:xfrm>
            <a:off x="6291072" y="406908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r28"/>
          <p:cNvSpPr/>
          <p:nvPr/>
        </p:nvSpPr>
        <p:spPr>
          <a:xfrm>
            <a:off x="6291072" y="4069080"/>
            <a:ext cx="91440" cy="1207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t29"/>
          <p:cNvSpPr txBox="1"/>
          <p:nvPr/>
        </p:nvSpPr>
        <p:spPr>
          <a:xfrm>
            <a:off x="6547104" y="41788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Возврат / отмена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6547104" y="45720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До отправки сделку можно отменить. После спора возможен возврат.</a:t>
            </a:r>
          </a:p>
        </p:txBody>
      </p:sp>
      <p:sp>
        <p:nvSpPr>
          <p:cNvPr id="31" name="r31"/>
          <p:cNvSpPr/>
          <p:nvPr/>
        </p:nvSpPr>
        <p:spPr>
          <a:xfrm>
            <a:off x="438912" y="5532120"/>
            <a:ext cx="11311128" cy="868680"/>
          </a:xfrm>
          <a:prstGeom prst="roundRect">
            <a:avLst>
              <a:gd name="adj" fmla="val 7000"/>
            </a:avLst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2" name="t32"/>
          <p:cNvSpPr txBox="1"/>
          <p:nvPr/>
        </p:nvSpPr>
        <p:spPr>
          <a:xfrm>
            <a:off x="640080" y="565099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Три проводки журнала:  hold — заморозка у гаранта,   release — перевод продавцу,   refund — возврат покупателю.</a:t>
            </a:r>
          </a:p>
        </p:txBody>
      </p:sp>
      <p:sp>
        <p:nvSpPr>
          <p:cNvPr id="33" name="r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4" name="t34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ВИТРИНА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Что продают и как это везут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5623560" cy="489204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t8"/>
          <p:cNvSpPr txBox="1"/>
          <p:nvPr/>
        </p:nvSpPr>
        <p:spPr>
          <a:xfrm>
            <a:off x="658368" y="16002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Три ветки каталога</a:t>
            </a:r>
          </a:p>
        </p:txBody>
      </p:sp>
      <p:sp>
        <p:nvSpPr>
          <p:cNvPr id="9" name="t9"/>
          <p:cNvSpPr txBox="1"/>
          <p:nvPr/>
        </p:nvSpPr>
        <p:spPr>
          <a:xfrm>
            <a:off x="658368" y="2148840"/>
            <a:ext cx="5212080" cy="3840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10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Сельхозугодья и продукция: зерно, овощи, фрукты, молоко, мёд, земля.</a:t>
            </a:r>
          </a:p>
          <a:p>
            <a:pPr algn="l">
              <a:spcAft>
                <a:spcPts val="10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Прочие продукты: бакалея и консервация.</a:t>
            </a:r>
          </a:p>
          <a:p>
            <a:pPr algn="l">
              <a:spcAft>
                <a:spcPts val="12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Товары: техника, инструмент, спецтехника, стройматериалы.</a:t>
            </a:r>
          </a:p>
          <a:p>
            <a:pPr algn="l">
              <a:spcAft>
                <a:spcPts val="800"/>
              </a:spcAft>
            </a:pPr>
            <a:r>
              <a:rPr lang="ru-RU" sz="1500" b="1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Объявление бывает трёх типов: продажа, обмен, продажа и обмен.</a:t>
            </a:r>
          </a:p>
          <a:p>
            <a:pPr algn="l"/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Фильтры: категория с подкатегориями, цена, рейтинг продавца, тип сделки, поиск.</a:t>
            </a:r>
          </a:p>
        </p:txBody>
      </p:sp>
      <p:sp>
        <p:nvSpPr>
          <p:cNvPr id="10" name="r10"/>
          <p:cNvSpPr/>
          <p:nvPr/>
        </p:nvSpPr>
        <p:spPr>
          <a:xfrm>
            <a:off x="6263640" y="1417320"/>
            <a:ext cx="5486400" cy="4892040"/>
          </a:xfrm>
          <a:prstGeom prst="roundRect">
            <a:avLst>
              <a:gd name="adj" fmla="val 7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t11"/>
          <p:cNvSpPr txBox="1"/>
          <p:nvPr/>
        </p:nvSpPr>
        <p:spPr>
          <a:xfrm>
            <a:off x="6492240" y="1600200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0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Доставку задаёт продавец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492240" y="2194560"/>
            <a:ext cx="5029200" cy="3749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12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Логистика: СДЭК, Boxberry, Яндекс Доставка, Почта России, доставка продавца.</a:t>
            </a:r>
          </a:p>
          <a:p>
            <a:pPr algn="l">
              <a:spcAft>
                <a:spcPts val="12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Самовывоз — адрес можно не писать.</a:t>
            </a:r>
          </a:p>
          <a:p>
            <a:pPr algn="l">
              <a:spcAft>
                <a:spcPts val="12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Спецтехника: грузовик, манипулятор, трактор, трал. Так уезжают зерно, земля и мини-трактор.</a:t>
            </a:r>
          </a:p>
          <a:p>
            <a:pPr algn="l"/>
            <a:r>
              <a:rPr lang="ru-RU" sz="1500" b="1" dirty="0">
                <a:solidFill>
                  <a:srgbClr val="F4E2B8"/>
                </a:solidFill>
                <a:latin typeface="Calibri"/>
                <a:ea typeface="Calibri"/>
                <a:cs typeface="Calibri"/>
              </a:rPr>
              <a:t>Покупатель выбирает только из того, что продавец отметил в объявлении.</a:t>
            </a:r>
          </a:p>
        </p:txBody>
      </p:sp>
      <p:sp>
        <p:nvSpPr>
          <p:cNvPr id="13" name="r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t14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РЕПУТАЦИЯ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Два рейтинга и одно правило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" name="t8"/>
          <p:cNvSpPr txBox="1"/>
          <p:nvPr/>
        </p:nvSpPr>
        <p:spPr>
          <a:xfrm>
            <a:off x="640080" y="160020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40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5,0</a:t>
            </a:r>
          </a:p>
        </p:txBody>
      </p:sp>
      <p:sp>
        <p:nvSpPr>
          <p:cNvPr id="9" name="t9"/>
          <p:cNvSpPr txBox="1"/>
          <p:nvPr/>
        </p:nvSpPr>
        <p:spPr>
          <a:xfrm>
            <a:off x="640080" y="237744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Стартовая оценка и продавца, и покупателя, пока нет отзывов.</a:t>
            </a:r>
          </a:p>
        </p:txBody>
      </p:sp>
      <p:sp>
        <p:nvSpPr>
          <p:cNvPr id="10" name="r10"/>
          <p:cNvSpPr/>
          <p:nvPr/>
        </p:nvSpPr>
        <p:spPr>
          <a:xfrm>
            <a:off x="4279392" y="1417320"/>
            <a:ext cx="7452360" cy="21488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t11"/>
          <p:cNvSpPr txBox="1"/>
          <p:nvPr/>
        </p:nvSpPr>
        <p:spPr>
          <a:xfrm>
            <a:off x="4526280" y="1600200"/>
            <a:ext cx="704088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800"/>
              </a:spcAft>
            </a:pPr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Отзыв нельзя оставить заранее.</a:t>
            </a:r>
          </a:p>
          <a:p>
            <a:pPr algn="l"/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Только статус «Завершено», одна оценка на сторону, шкала от 1 до 5 и короткий комментарий.</a:t>
            </a:r>
          </a:p>
        </p:txBody>
      </p:sp>
      <p:sp>
        <p:nvSpPr>
          <p:cNvPr id="12" name="r12"/>
          <p:cNvSpPr/>
          <p:nvPr/>
        </p:nvSpPr>
        <p:spPr>
          <a:xfrm>
            <a:off x="438912" y="379476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t13"/>
          <p:cNvSpPr txBox="1"/>
          <p:nvPr/>
        </p:nvSpPr>
        <p:spPr>
          <a:xfrm>
            <a:off x="640080" y="397764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5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Покупатель пишет отзыв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40080" y="461772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Меняется рейтинг продавца</a:t>
            </a:r>
          </a:p>
        </p:txBody>
      </p:sp>
      <p:sp>
        <p:nvSpPr>
          <p:cNvPr id="15" name="r15"/>
          <p:cNvSpPr/>
          <p:nvPr/>
        </p:nvSpPr>
        <p:spPr>
          <a:xfrm>
            <a:off x="4279392" y="379476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t16"/>
          <p:cNvSpPr txBox="1"/>
          <p:nvPr/>
        </p:nvSpPr>
        <p:spPr>
          <a:xfrm>
            <a:off x="4480560" y="397764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5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Продавец пишет отзыв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4480560" y="461772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Меняется рейтинг покупателя</a:t>
            </a:r>
          </a:p>
        </p:txBody>
      </p:sp>
      <p:sp>
        <p:nvSpPr>
          <p:cNvPr id="18" name="r18"/>
          <p:cNvSpPr/>
          <p:nvPr/>
        </p:nvSpPr>
        <p:spPr>
          <a:xfrm>
            <a:off x="8119872" y="379476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t19"/>
          <p:cNvSpPr txBox="1"/>
          <p:nvPr/>
        </p:nvSpPr>
        <p:spPr>
          <a:xfrm>
            <a:off x="8321040" y="397764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5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Пример из данных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8321040" y="461772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Оценки 5 и 4 дают среднее 4,50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400" dirty="0">
                <a:solidFill>
                  <a:srgbClr val="6F675C"/>
                </a:solidFill>
                <a:latin typeface="Calibri"/>
                <a:ea typeface="Calibri"/>
                <a:cs typeface="Calibri"/>
              </a:rPr>
              <a:t>Стартовая пятёрка в среднее не входит. Иначе первый отзыв «3» превратился бы в 4,0 и скрыл реальную оценку.</a:t>
            </a:r>
          </a:p>
        </p:txBody>
      </p:sp>
      <p:sp>
        <p:nvSpPr>
          <p:cNvPr id="22" name="r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" name="t23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РОЛИ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Участник ведёт сделку, админ закрывает спор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417320"/>
            <a:ext cx="5623560" cy="489204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t8"/>
          <p:cNvSpPr txBox="1"/>
          <p:nvPr/>
        </p:nvSpPr>
        <p:spPr>
          <a:xfrm>
            <a:off x="658368" y="16002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Личный кабинет</a:t>
            </a:r>
          </a:p>
        </p:txBody>
      </p:sp>
      <p:sp>
        <p:nvSpPr>
          <p:cNvPr id="9" name="t9"/>
          <p:cNvSpPr txBox="1"/>
          <p:nvPr/>
        </p:nvSpPr>
        <p:spPr>
          <a:xfrm>
            <a:off x="658368" y="2194560"/>
            <a:ext cx="5212080" cy="3749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Объявления: создать, скрыть, вернуть в каталог.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Сделки со всеми статусами, отдельно покупки и продажи.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Переписка только внутри сделки. Служебные реплики пишет сам ГАРАНТ.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Смена пароля и код на почту как второй шаг входа.</a:t>
            </a:r>
          </a:p>
          <a:p>
            <a:pPr algn="l"/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Учебная карта: в базе остаются бренд, имя, срок и 4 цифры.</a:t>
            </a:r>
          </a:p>
        </p:txBody>
      </p:sp>
      <p:sp>
        <p:nvSpPr>
          <p:cNvPr id="10" name="r10"/>
          <p:cNvSpPr/>
          <p:nvPr/>
        </p:nvSpPr>
        <p:spPr>
          <a:xfrm>
            <a:off x="6263640" y="1417320"/>
            <a:ext cx="5486400" cy="489204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r11"/>
          <p:cNvSpPr/>
          <p:nvPr/>
        </p:nvSpPr>
        <p:spPr>
          <a:xfrm>
            <a:off x="6263640" y="1417320"/>
            <a:ext cx="5486400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t12"/>
          <p:cNvSpPr txBox="1"/>
          <p:nvPr/>
        </p:nvSpPr>
        <p:spPr>
          <a:xfrm>
            <a:off x="6492240" y="1691640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Админ-панель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492240" y="228600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Сводка: пользователи, объявления, замороженная сумма, открытые споры.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Блокировка участников. Последнего администратора заблокировать нельзя.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Категории: добавить, переименовать, удалить пустую.</a:t>
            </a:r>
          </a:p>
          <a:p>
            <a:pPr algn="l"/>
            <a:r>
              <a:rPr lang="ru-RU" sz="1500" b="1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Спор: вернуть покупателю или перевести продавцу и закрыть сделку.</a:t>
            </a:r>
          </a:p>
        </p:txBody>
      </p:sp>
      <p:sp>
        <p:nvSpPr>
          <p:cNvPr id="14" name="r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t15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КАК ЭТО СДЕЛАНО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Стек и защита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371600"/>
            <a:ext cx="5669280" cy="86868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t8"/>
          <p:cNvSpPr txBox="1"/>
          <p:nvPr/>
        </p:nvSpPr>
        <p:spPr>
          <a:xfrm>
            <a:off x="640080" y="144475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PHP 8</a:t>
            </a:r>
          </a:p>
        </p:txBody>
      </p:sp>
      <p:sp>
        <p:nvSpPr>
          <p:cNvPr id="9" name="t9"/>
          <p:cNvSpPr txBox="1"/>
          <p:nvPr/>
        </p:nvSpPr>
        <p:spPr>
          <a:xfrm>
            <a:off x="640080" y="1773936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Страницы без фреймворка. Логика эскроу собрана в includes/escrow.php.</a:t>
            </a:r>
          </a:p>
        </p:txBody>
      </p:sp>
      <p:sp>
        <p:nvSpPr>
          <p:cNvPr id="10" name="r10"/>
          <p:cNvSpPr/>
          <p:nvPr/>
        </p:nvSpPr>
        <p:spPr>
          <a:xfrm>
            <a:off x="438912" y="2331720"/>
            <a:ext cx="5669280" cy="86868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t11"/>
          <p:cNvSpPr txBox="1"/>
          <p:nvPr/>
        </p:nvSpPr>
        <p:spPr>
          <a:xfrm>
            <a:off x="640080" y="240487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PDO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40080" y="2734056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Только подготовленные запросы, без подстановки текста в SQL.</a:t>
            </a:r>
          </a:p>
        </p:txBody>
      </p:sp>
      <p:sp>
        <p:nvSpPr>
          <p:cNvPr id="13" name="r13"/>
          <p:cNvSpPr/>
          <p:nvPr/>
        </p:nvSpPr>
        <p:spPr>
          <a:xfrm>
            <a:off x="438912" y="3291840"/>
            <a:ext cx="5669280" cy="86868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t14"/>
          <p:cNvSpPr txBox="1"/>
          <p:nvPr/>
        </p:nvSpPr>
        <p:spPr>
          <a:xfrm>
            <a:off x="640080" y="336499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MySQL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40080" y="3694176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Схема sql/schema.sql: пользователи, товары, сделки, проводки, споры.</a:t>
            </a:r>
          </a:p>
        </p:txBody>
      </p:sp>
      <p:sp>
        <p:nvSpPr>
          <p:cNvPr id="16" name="r16"/>
          <p:cNvSpPr/>
          <p:nvPr/>
        </p:nvSpPr>
        <p:spPr>
          <a:xfrm>
            <a:off x="438912" y="4251960"/>
            <a:ext cx="5669280" cy="86868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t17"/>
          <p:cNvSpPr txBox="1"/>
          <p:nvPr/>
        </p:nvSpPr>
        <p:spPr>
          <a:xfrm>
            <a:off x="640080" y="432511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6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Bootstrap 5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40080" y="4654296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300" dirty="0">
                <a:solidFill>
                  <a:srgbClr val="3E3A33"/>
                </a:solidFill>
                <a:latin typeface="Calibri"/>
                <a:ea typeface="Calibri"/>
                <a:cs typeface="Calibri"/>
              </a:rPr>
              <a:t>Адаптивная вёрстка, весь интерфейс на русском.</a:t>
            </a:r>
          </a:p>
        </p:txBody>
      </p:sp>
      <p:sp>
        <p:nvSpPr>
          <p:cNvPr id="19" name="r19"/>
          <p:cNvSpPr/>
          <p:nvPr/>
        </p:nvSpPr>
        <p:spPr>
          <a:xfrm>
            <a:off x="6309360" y="1371600"/>
            <a:ext cx="5440680" cy="3840480"/>
          </a:xfrm>
          <a:prstGeom prst="roundRect">
            <a:avLst>
              <a:gd name="adj" fmla="val 8000"/>
            </a:avLst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0" name="t20"/>
          <p:cNvSpPr txBox="1"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2000" b="1" dirty="0">
                <a:solidFill>
                  <a:srgbClr val="F4E2B8"/>
                </a:solidFill>
                <a:latin typeface="Georgia"/>
                <a:ea typeface="Georgia"/>
                <a:cs typeface="Georgia"/>
              </a:rPr>
              <a:t>Что закрыто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537960" y="2057400"/>
            <a:ext cx="4983480" cy="2926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XSS — вывод только через экранирование.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CSRF — токен на каждой форме, сверка hash_equals.</a:t>
            </a:r>
          </a:p>
          <a:p>
            <a:pPr algn="l">
              <a:spcAft>
                <a:spcPts val="800"/>
              </a:spcAft>
            </a:pPr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Пароли — password_hash, сессия обновляется при входе.</a:t>
            </a:r>
          </a:p>
          <a:p>
            <a:pPr algn="l"/>
            <a:r>
              <a:rPr lang="ru-RU" sz="15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Фото — проверка содержимого, своё имя файла, PHP в uploads запрещён.</a:t>
            </a:r>
          </a:p>
        </p:txBody>
      </p:sp>
      <p:sp>
        <p:nvSpPr>
          <p:cNvPr id="22" name="r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3" name="t23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r4"/>
          <p:cNvSpPr/>
          <p:nvPr/>
        </p:nvSpPr>
        <p:spPr>
          <a:xfrm>
            <a:off x="0" y="109728"/>
            <a:ext cx="146304" cy="654710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5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9A6B16"/>
                </a:solidFill>
                <a:latin typeface="Calibri"/>
                <a:ea typeface="Calibri"/>
                <a:cs typeface="Calibri"/>
              </a:rPr>
              <a:t>ЗАПУСК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624" y="530352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30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Три шага и учебный сценарий</a:t>
            </a:r>
          </a:p>
        </p:txBody>
      </p:sp>
      <p:sp>
        <p:nvSpPr>
          <p:cNvPr id="7" name="r7"/>
          <p:cNvSpPr/>
          <p:nvPr/>
        </p:nvSpPr>
        <p:spPr>
          <a:xfrm>
            <a:off x="438912" y="1353312"/>
            <a:ext cx="6903720" cy="233172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t8"/>
          <p:cNvSpPr txBox="1"/>
          <p:nvPr/>
        </p:nvSpPr>
        <p:spPr>
          <a:xfrm>
            <a:off x="640080" y="1481328"/>
            <a:ext cx="653796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6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1. Импортировать sql/schema.sql в MySQL.</a:t>
            </a:r>
          </a:p>
          <a:p>
            <a:pPr algn="l">
              <a:spcAft>
                <a:spcPts val="6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2. Проверить хост, базу garant и пароль в config.php.</a:t>
            </a:r>
          </a:p>
          <a:p>
            <a:pPr algn="l">
              <a:spcAft>
                <a:spcPts val="4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3. Перезапустить Open Server и открыть http://garant/</a:t>
            </a:r>
          </a:p>
          <a:p>
            <a:pPr algn="l"/>
            <a:r>
              <a:rPr lang="ru-RU" sz="1400" dirty="0">
                <a:solidFill>
                  <a:srgbClr val="6F675C"/>
                </a:solidFill>
                <a:latin typeface="Calibri"/>
                <a:ea typeface="Calibri"/>
                <a:cs typeface="Calibri"/>
              </a:rPr>
              <a:t>Каталог виден без входа. Сделка, кабинет и админка — после авторизации.</a:t>
            </a:r>
          </a:p>
        </p:txBody>
      </p:sp>
      <p:sp>
        <p:nvSpPr>
          <p:cNvPr id="9" name="r9"/>
          <p:cNvSpPr/>
          <p:nvPr/>
        </p:nvSpPr>
        <p:spPr>
          <a:xfrm>
            <a:off x="7498080" y="1353312"/>
            <a:ext cx="4251960" cy="73152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t10"/>
          <p:cNvSpPr txBox="1"/>
          <p:nvPr/>
        </p:nvSpPr>
        <p:spPr>
          <a:xfrm>
            <a:off x="7644384" y="14081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Админ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7644384" y="168249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admin@garant.local   ·   admin123</a:t>
            </a:r>
          </a:p>
        </p:txBody>
      </p:sp>
      <p:sp>
        <p:nvSpPr>
          <p:cNvPr id="12" name="r12"/>
          <p:cNvSpPr/>
          <p:nvPr/>
        </p:nvSpPr>
        <p:spPr>
          <a:xfrm>
            <a:off x="7498080" y="2157984"/>
            <a:ext cx="4251960" cy="73152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t13"/>
          <p:cNvSpPr txBox="1"/>
          <p:nvPr/>
        </p:nvSpPr>
        <p:spPr>
          <a:xfrm>
            <a:off x="7644384" y="22128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Продавец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7644384" y="248716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anna@garant.local   ·   seller123</a:t>
            </a:r>
          </a:p>
        </p:txBody>
      </p:sp>
      <p:sp>
        <p:nvSpPr>
          <p:cNvPr id="15" name="r15"/>
          <p:cNvSpPr/>
          <p:nvPr/>
        </p:nvSpPr>
        <p:spPr>
          <a:xfrm>
            <a:off x="7498080" y="2962656"/>
            <a:ext cx="4251960" cy="73152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t16"/>
          <p:cNvSpPr txBox="1"/>
          <p:nvPr/>
        </p:nvSpPr>
        <p:spPr>
          <a:xfrm>
            <a:off x="7644384" y="30175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Покупатель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644384" y="32918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200" dirty="0">
                <a:solidFill>
                  <a:srgbClr val="F6F1E7"/>
                </a:solidFill>
                <a:latin typeface="Calibri"/>
                <a:ea typeface="Calibri"/>
                <a:cs typeface="Calibri"/>
              </a:rPr>
              <a:t>igor@garant.local   ·   buyer123</a:t>
            </a:r>
          </a:p>
        </p:txBody>
      </p:sp>
      <p:sp>
        <p:nvSpPr>
          <p:cNvPr id="18" name="r18"/>
          <p:cNvSpPr/>
          <p:nvPr/>
        </p:nvSpPr>
        <p:spPr>
          <a:xfrm>
            <a:off x="438912" y="3840480"/>
            <a:ext cx="11311128" cy="246888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 w="12700">
            <a:solidFill>
              <a:srgbClr val="E5DCC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t19"/>
          <p:cNvSpPr txBox="1"/>
          <p:nvPr/>
        </p:nvSpPr>
        <p:spPr>
          <a:xfrm>
            <a:off x="658368" y="3977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ru-RU" sz="1800" b="1" dirty="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Что показать на защите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58368" y="4434840"/>
            <a:ext cx="1088136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4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Игорь оформляет покупку — в журнале hold, статус «Оплачено (заморожено)».</a:t>
            </a:r>
          </a:p>
          <a:p>
            <a:pPr algn="l">
              <a:spcAft>
                <a:spcPts val="400"/>
              </a:spcAft>
            </a:pPr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Анна отмечает отправку. Игорь подтверждает получение — появляется release, сделку можно оценить.</a:t>
            </a:r>
          </a:p>
          <a:p>
            <a:pPr algn="l"/>
            <a:r>
              <a:rPr lang="ru-RU" sz="1500" dirty="0">
                <a:solidFill>
                  <a:srgbClr val="1D1A15"/>
                </a:solidFill>
                <a:latin typeface="Calibri"/>
                <a:ea typeface="Calibri"/>
                <a:cs typeface="Calibri"/>
              </a:rPr>
              <a:t>Админ открывает спор по холодильнику и выбирает: вернуть покупателю или перевести продавцу.</a:t>
            </a:r>
          </a:p>
        </p:txBody>
      </p:sp>
      <p:sp>
        <p:nvSpPr>
          <p:cNvPr id="21" name="r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81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2" name="t22"/>
          <p:cNvSpPr txBox="1"/>
          <p:nvPr/>
        </p:nvSpPr>
        <p:spPr>
          <a:xfrm>
            <a:off x="411480" y="6656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ru-RU" sz="1100" dirty="0">
                <a:solidFill>
                  <a:srgbClr val="E7DECE"/>
                </a:solidFill>
                <a:latin typeface="Calibri"/>
                <a:ea typeface="Calibri"/>
                <a:cs typeface="Calibri"/>
              </a:rPr>
              <a:t>ГАРАНТ  ·  маркетплейс с эскроу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ru-RU" sz="1100" b="1" dirty="0">
                <a:solidFill>
                  <a:srgbClr val="E09F3E"/>
                </a:solidFill>
                <a:latin typeface="Calibri"/>
                <a:ea typeface="Calibri"/>
                <a:cs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rant">
  <a:themeElements>
    <a:clrScheme name="Garant">
      <a:dk1>
        <a:srgbClr val="1D1A15"/>
      </a:dk1>
      <a:lt1>
        <a:srgbClr val="F6F1E7"/>
      </a:lt1>
      <a:dk2>
        <a:srgbClr val="12281E"/>
      </a:dk2>
      <a:lt2>
        <a:srgbClr val="FFFDF8"/>
      </a:lt2>
      <a:accent1>
        <a:srgbClr val="1B4332"/>
      </a:accent1>
      <a:accent2>
        <a:srgbClr val="E09F3E"/>
      </a:accent2>
      <a:accent3>
        <a:srgbClr val="2D6A4F"/>
      </a:accent3>
      <a:accent4>
        <a:srgbClr val="9C3D2F"/>
      </a:accent4>
      <a:accent5>
        <a:srgbClr val="6F675C"/>
      </a:accent5>
      <a:accent6>
        <a:srgbClr val="F4E2B8"/>
      </a:accent6>
      <a:hlink>
        <a:srgbClr val="1B4332"/>
      </a:hlink>
      <a:folHlink>
        <a:srgbClr val="9A6B16"/>
      </a:folHlink>
    </a:clrScheme>
    <a:fontScheme name="Garan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Gara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10</Slides>
  <PresentationFormat>Экран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ГАРАНТ — маркетплейс с эскроу</dc:title>
  <dc:subject>Продажа и обмен с гарантией платформы</dc:subject>
  <dc:creator>ГАРАНТ</dc:creator>
  <cp:lastModifiedBy>ГАРАНТ</cp:lastModifiedBy>
</cp:coreProperties>
</file>